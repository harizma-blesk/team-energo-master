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6" y="-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02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5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" Type="http://schemas.openxmlformats.org/officeDocument/2006/relationships/image" Target="../media/image1.png"/><Relationship Id="rId21" Type="http://schemas.openxmlformats.org/officeDocument/2006/relationships/image" Target="../media/image114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8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0"/>
            <a:ext cx="73152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0"/>
            <a:ext cx="914400" cy="68580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938213"/>
            <a:ext cx="5791200" cy="3571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Интеллектуальная система
</a:t>
            </a:r>
            <a:r>
              <a:rPr lang="en-US" sz="45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тестирования</a:t>
            </a:r>
            <a:r>
              <a:rPr lang="en-US" sz="4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управления кампусом</a:t>
            </a:r>
            <a:endParaRPr lang="en-US" sz="4500" dirty="0"/>
          </a:p>
        </p:txBody>
      </p:sp>
      <p:sp>
        <p:nvSpPr>
          <p:cNvPr id="11" name="Text 1"/>
          <p:cNvSpPr/>
          <p:nvPr/>
        </p:nvSpPr>
        <p:spPr>
          <a:xfrm>
            <a:off x="784979" y="4195763"/>
            <a:ext cx="4876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 экзаменов и превращение тестирования в инструмент персонального обучения</a:t>
            </a:r>
            <a:endParaRPr lang="en-US" sz="1800" dirty="0"/>
          </a:p>
        </p:txBody>
      </p:sp>
      <p:sp>
        <p:nvSpPr>
          <p:cNvPr id="12" name="Text 2"/>
          <p:cNvSpPr/>
          <p:nvPr/>
        </p:nvSpPr>
        <p:spPr>
          <a:xfrm>
            <a:off x="914400" y="6110288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3" name="Text 3"/>
          <p:cNvSpPr/>
          <p:nvPr/>
        </p:nvSpPr>
        <p:spPr>
          <a:xfrm>
            <a:off x="2503289" y="6110288"/>
            <a:ext cx="1440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4" name="Text 4"/>
          <p:cNvSpPr/>
          <p:nvPr/>
        </p:nvSpPr>
        <p:spPr>
          <a:xfrm>
            <a:off x="3956893" y="6110288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5" name="Text 5"/>
          <p:cNvSpPr/>
          <p:nvPr/>
        </p:nvSpPr>
        <p:spPr>
          <a:xfrm>
            <a:off x="762000" y="57912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762000" y="6019800"/>
            <a:ext cx="3009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10022086" y="5410200"/>
            <a:ext cx="26060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10022086" y="5619750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251BF-87D5-6E55-D597-297C44F20AD8}"/>
              </a:ext>
            </a:extLst>
          </p:cNvPr>
          <p:cNvSpPr txBox="1"/>
          <p:nvPr/>
        </p:nvSpPr>
        <p:spPr>
          <a:xfrm>
            <a:off x="707355" y="5266015"/>
            <a:ext cx="6499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dirty="0"/>
              <a:t>Energo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F5614-3281-1776-574D-BBC3768621EA}"/>
              </a:ext>
            </a:extLst>
          </p:cNvPr>
          <p:cNvSpPr txBox="1"/>
          <p:nvPr/>
        </p:nvSpPr>
        <p:spPr>
          <a:xfrm>
            <a:off x="665748" y="5663684"/>
            <a:ext cx="6497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Шахматов Кирилл, Кононенко Артур, Григорьев Михаил</a:t>
            </a:r>
            <a:endParaRPr lang="ru-KZ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E66FDD-7F32-F8CE-DF73-D380A9599090}"/>
              </a:ext>
            </a:extLst>
          </p:cNvPr>
          <p:cNvSpPr txBox="1"/>
          <p:nvPr/>
        </p:nvSpPr>
        <p:spPr>
          <a:xfrm>
            <a:off x="665748" y="6157674"/>
            <a:ext cx="6497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dirty="0"/>
              <a:t>преподователь: </a:t>
            </a:r>
            <a:r>
              <a:rPr lang="ru-RU" dirty="0"/>
              <a:t>Якубов Баходыр Маликович</a:t>
            </a:r>
            <a:endParaRPr lang="ru-K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33550"/>
            <a:ext cx="5257800" cy="3581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03835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667000"/>
            <a:ext cx="142875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29000"/>
            <a:ext cx="142875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191000"/>
            <a:ext cx="142875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733550"/>
            <a:ext cx="5257800" cy="3581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209800"/>
            <a:ext cx="219075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0099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7719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533900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772150"/>
            <a:ext cx="109728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61531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8975" y="6057900"/>
            <a:ext cx="9525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58325" y="6057900"/>
            <a:ext cx="9525" cy="381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609600"/>
            <a:ext cx="175564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Проблематика и концепция системы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1352550" y="2038350"/>
            <a:ext cx="65151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Традиционный подход</a:t>
            </a:r>
            <a:endParaRPr lang="en-US" sz="2250" dirty="0"/>
          </a:p>
        </p:txBody>
      </p:sp>
      <p:sp>
        <p:nvSpPr>
          <p:cNvPr id="20" name="Text 2"/>
          <p:cNvSpPr/>
          <p:nvPr/>
        </p:nvSpPr>
        <p:spPr>
          <a:xfrm>
            <a:off x="1171575" y="2609850"/>
            <a:ext cx="43910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Экзамены как </a:t>
            </a: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стрессовое испытание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а не этап обучения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171575" y="3371850"/>
            <a:ext cx="43910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Простая оценка знаний без </a:t>
            </a: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глубокого анализа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пробелов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1171575" y="4133850"/>
            <a:ext cx="43910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Неэффективное управление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аудиторным фондом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7000875" y="2038350"/>
            <a:ext cx="42767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Интеллектуальная концепция</a:t>
            </a:r>
            <a:endParaRPr lang="en-US" sz="2250" dirty="0"/>
          </a:p>
        </p:txBody>
      </p:sp>
      <p:sp>
        <p:nvSpPr>
          <p:cNvPr id="24" name="Text 6"/>
          <p:cNvSpPr/>
          <p:nvPr/>
        </p:nvSpPr>
        <p:spPr>
          <a:xfrm>
            <a:off x="6877050" y="2952750"/>
            <a:ext cx="4400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AI-генерация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уникальных тестов под уровень студента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6877050" y="3714750"/>
            <a:ext cx="4400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Трансформация теста в </a:t>
            </a: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наставничества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6877050" y="4476750"/>
            <a:ext cx="4400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Умный кампус: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бронирование через IP-камеры и ТГ-бота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1219200" y="6000750"/>
            <a:ext cx="355282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 от контроля к развитию компетенций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3832860" y="60579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Персонализация</a:t>
            </a:r>
            <a:endParaRPr lang="en-US" sz="1800" dirty="0"/>
          </a:p>
        </p:txBody>
      </p:sp>
      <p:sp>
        <p:nvSpPr>
          <p:cNvPr id="29" name="Text 11"/>
          <p:cNvSpPr/>
          <p:nvPr/>
        </p:nvSpPr>
        <p:spPr>
          <a:xfrm>
            <a:off x="4772025" y="6362700"/>
            <a:ext cx="196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6470332" y="6057900"/>
            <a:ext cx="3566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</a:t>
            </a:r>
            <a:endParaRPr lang="en-US" sz="1800" dirty="0"/>
          </a:p>
        </p:txBody>
      </p:sp>
      <p:sp>
        <p:nvSpPr>
          <p:cNvPr id="31" name="Text 13"/>
          <p:cNvSpPr/>
          <p:nvPr/>
        </p:nvSpPr>
        <p:spPr>
          <a:xfrm>
            <a:off x="7353300" y="6362700"/>
            <a:ext cx="18002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9054465" y="6057900"/>
            <a:ext cx="30175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</a:t>
            </a:r>
            <a:endParaRPr lang="en-US" sz="1800" dirty="0"/>
          </a:p>
        </p:txBody>
      </p:sp>
      <p:sp>
        <p:nvSpPr>
          <p:cNvPr id="33" name="Text 15"/>
          <p:cNvSpPr/>
          <p:nvPr/>
        </p:nvSpPr>
        <p:spPr>
          <a:xfrm>
            <a:off x="9772650" y="6362700"/>
            <a:ext cx="1581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524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972" y="1885950"/>
            <a:ext cx="9144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722" y="215265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344" y="2343150"/>
            <a:ext cx="1428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2191" y="1885950"/>
            <a:ext cx="914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7941" y="215265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563" y="2343150"/>
            <a:ext cx="1428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409" y="1885950"/>
            <a:ext cx="914400" cy="914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1159" y="215265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7781" y="2343150"/>
            <a:ext cx="1428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8628" y="1885950"/>
            <a:ext cx="9144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3428" y="2152650"/>
            <a:ext cx="3048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914900"/>
            <a:ext cx="10972800" cy="1333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5276850"/>
            <a:ext cx="5334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" y="5429250"/>
            <a:ext cx="22860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5361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Индивидуальный путь студента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79772" y="3028950"/>
            <a:ext cx="335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Регистрация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09600" y="3409950"/>
            <a:ext cx="2293144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вход в систему и авторизация в личном кабинете студента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3201591" y="30289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Настройка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3502819" y="3409950"/>
            <a:ext cx="229314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предмета и желаемого уровня сложности теста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5751909" y="30289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AI Генерация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396038" y="3409950"/>
            <a:ext cx="2293144" cy="990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уникального набора вопросов, исключающее заучивание ответов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8988028" y="30289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Результат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9289256" y="3409950"/>
            <a:ext cx="2293144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Мгновенная автоматическая проверка и расчет баллов системой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752600" y="5219700"/>
            <a:ext cx="952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Адаптивность и честность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1752600" y="5486400"/>
            <a:ext cx="9525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Алгоритмы ИИ гарантируют, что каждый тест уникален, адаптирован под уровень студента и направлен на реальное понимание материала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24000"/>
            <a:ext cx="12192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28800"/>
            <a:ext cx="27051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1336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1828800"/>
            <a:ext cx="2705100" cy="1828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5200" y="2019300"/>
            <a:ext cx="5334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3313" y="21336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1828800"/>
            <a:ext cx="2705100" cy="1828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21336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1828800"/>
            <a:ext cx="2705100" cy="1828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0200" y="2019300"/>
            <a:ext cx="5334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72600" y="21336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886200"/>
            <a:ext cx="7289899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352925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5699" y="3886200"/>
            <a:ext cx="3759101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66199" y="4991100"/>
            <a:ext cx="79057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32974" y="4991100"/>
            <a:ext cx="762000" cy="2286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Интеллектуальное наставничество и аналитика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647700" y="2667000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Глубокий анализ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477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выявляет логические пробелы в понимании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3505200" y="2667000"/>
            <a:ext cx="274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35052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Персонализированный список тем для повторения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362700" y="266700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Закрепление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3627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 дополнительных заданий для слабых зон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9220200" y="2667000"/>
            <a:ext cx="2324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92202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Архив тестов и прогресса в личном кабинете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952500" y="4352925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Траектория обучения</a:t>
            </a:r>
            <a:endParaRPr lang="en-US" sz="1500" dirty="0"/>
          </a:p>
        </p:txBody>
      </p:sp>
      <p:sp>
        <p:nvSpPr>
          <p:cNvPr id="29" name="Text 10"/>
          <p:cNvSpPr/>
          <p:nvPr/>
        </p:nvSpPr>
        <p:spPr>
          <a:xfrm>
            <a:off x="647700" y="4695825"/>
            <a:ext cx="128016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отслеживает динамику и визуализирует рост компетенций студента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8166199" y="4114800"/>
            <a:ext cx="19202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СИСТЕМЫ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8166199" y="4343400"/>
            <a:ext cx="33781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Превратить тест в </a:t>
            </a:r>
            <a:r>
              <a:rPr lang="en-US" sz="15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персональный план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8242399" y="4991100"/>
            <a:ext cx="996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MENTOR</a:t>
            </a:r>
            <a:endParaRPr lang="en-US" sz="900" dirty="0"/>
          </a:p>
        </p:txBody>
      </p:sp>
      <p:sp>
        <p:nvSpPr>
          <p:cNvPr id="33" name="Text 14"/>
          <p:cNvSpPr/>
          <p:nvPr/>
        </p:nvSpPr>
        <p:spPr>
          <a:xfrm>
            <a:off x="9109174" y="4991100"/>
            <a:ext cx="9875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764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90750"/>
            <a:ext cx="3454301" cy="31718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5300" y="2686050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701" y="2190750"/>
            <a:ext cx="3454450" cy="31718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4851" y="2495550"/>
            <a:ext cx="7620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401" y="2686050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2190750"/>
            <a:ext cx="3454301" cy="3171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2701" y="268605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451" y="5562600"/>
            <a:ext cx="1097280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6029325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0833" y="5734301"/>
            <a:ext cx="1589484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0625" y="6071435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32242" y="5734301"/>
            <a:ext cx="2107257" cy="685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1677" y="6143625"/>
            <a:ext cx="13335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609600"/>
            <a:ext cx="10972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 мониторинга для преподавателя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5030" y="3486150"/>
            <a:ext cx="46634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Сводная аналитика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914400" y="3943350"/>
            <a:ext cx="2844701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 к общей статистике успеваемости всей группы для оценки эффективности обучения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3352651" y="348615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Выявление слабых тем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4673501" y="3943350"/>
            <a:ext cx="284485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Автоматическое определение тем, вызывающих затруднения, для корректировки учебного плана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7249061" y="3486150"/>
            <a:ext cx="5212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Мониторинг динамики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8432750" y="3943350"/>
            <a:ext cx="2844701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Отслеживание сильных и слабых сторон каждого студента и динамики их результатов во времени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914400" y="5653338"/>
            <a:ext cx="59997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 рутины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1219200" y="6010776"/>
            <a:ext cx="599970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берет на себя создание и проверку тестов, высвобождая время для индивидуальной работы и развития потенциала студентов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7881417" y="5887201"/>
            <a:ext cx="8274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AI-проверка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9437042" y="6010776"/>
            <a:ext cx="1214437" cy="3331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решения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33550"/>
            <a:ext cx="5257800" cy="548401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21717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98119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79119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60119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236369"/>
            <a:ext cx="464820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2681" y="5503069"/>
            <a:ext cx="952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4819" y="5503069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733550"/>
            <a:ext cx="5257800" cy="548401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03835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3225" y="2171700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998119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4607719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5217319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5998369"/>
            <a:ext cx="4648200" cy="914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2070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Интерактивное обучение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1676400" y="2171700"/>
            <a:ext cx="3771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Дебаты с ИИ</a:t>
            </a:r>
            <a:endParaRPr lang="en-US" sz="2250" dirty="0"/>
          </a:p>
        </p:txBody>
      </p:sp>
      <p:sp>
        <p:nvSpPr>
          <p:cNvPr id="21" name="Text 2"/>
          <p:cNvSpPr/>
          <p:nvPr/>
        </p:nvSpPr>
        <p:spPr>
          <a:xfrm>
            <a:off x="914400" y="2876550"/>
            <a:ext cx="46482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Развитие навыков аргументации и критического мышления через дискуссию с искусственным интеллектом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181100" y="3940969"/>
            <a:ext cx="7680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выступает в роли </a:t>
            </a:r>
            <a:r>
              <a:rPr lang="en-US" sz="12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оппонента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или эксперта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181100" y="4321969"/>
            <a:ext cx="8778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 неожиданных вопросов и контраргументов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181100" y="4702969"/>
            <a:ext cx="6583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Отработка быстрой реакции на критику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081088" y="5388769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1</a:t>
            </a:r>
            <a:endParaRPr lang="en-US" sz="900" dirty="0"/>
          </a:p>
        </p:txBody>
      </p:sp>
      <p:sp>
        <p:nvSpPr>
          <p:cNvPr id="26" name="Text 7"/>
          <p:cNvSpPr/>
          <p:nvPr/>
        </p:nvSpPr>
        <p:spPr>
          <a:xfrm>
            <a:off x="738187" y="5579269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2924175" y="5388769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2</a:t>
            </a:r>
            <a:endParaRPr lang="en-US" sz="900" dirty="0"/>
          </a:p>
        </p:txBody>
      </p:sp>
      <p:sp>
        <p:nvSpPr>
          <p:cNvPr id="28" name="Text 9"/>
          <p:cNvSpPr/>
          <p:nvPr/>
        </p:nvSpPr>
        <p:spPr>
          <a:xfrm>
            <a:off x="2581275" y="5579269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Проведение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4624388" y="5388769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3</a:t>
            </a:r>
            <a:endParaRPr lang="en-US" sz="900" dirty="0"/>
          </a:p>
        </p:txBody>
      </p:sp>
      <p:sp>
        <p:nvSpPr>
          <p:cNvPr id="30" name="Text 11"/>
          <p:cNvSpPr/>
          <p:nvPr/>
        </p:nvSpPr>
        <p:spPr>
          <a:xfrm>
            <a:off x="4601528" y="5579269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7391400" y="2171700"/>
            <a:ext cx="7200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Стать учителем для ИИ</a:t>
            </a:r>
            <a:endParaRPr lang="en-US" sz="2250" dirty="0"/>
          </a:p>
        </p:txBody>
      </p:sp>
      <p:sp>
        <p:nvSpPr>
          <p:cNvPr id="32" name="Text 13"/>
          <p:cNvSpPr/>
          <p:nvPr/>
        </p:nvSpPr>
        <p:spPr>
          <a:xfrm>
            <a:off x="6629400" y="2876550"/>
            <a:ext cx="46482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«обучения через объяснение»: студент структурирует материал для передачи знаний системе</a:t>
            </a:r>
            <a:endParaRPr lang="en-US" sz="1350" dirty="0"/>
          </a:p>
        </p:txBody>
      </p:sp>
      <p:sp>
        <p:nvSpPr>
          <p:cNvPr id="33" name="Text 14"/>
          <p:cNvSpPr/>
          <p:nvPr/>
        </p:nvSpPr>
        <p:spPr>
          <a:xfrm>
            <a:off x="6877050" y="3940969"/>
            <a:ext cx="4400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Глубокое понимание: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объяснение требует четкой структуры мыслей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896100" y="4550569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Выявление пробелов: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сложности в объяснении указывают на слабые места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896100" y="5160169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Закрепление: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активная переработка информации улучшает память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858000" y="6226969"/>
            <a:ext cx="4191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«Если вы не можете объяснить это просто — значит, вы сами не понимаете этого до конца»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9144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10972800" cy="2400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372" y="21336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1447" y="2343150"/>
            <a:ext cx="3238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6144" y="2828925"/>
            <a:ext cx="1428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0791" y="213360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8916" y="234315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563" y="2828925"/>
            <a:ext cx="1428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22885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0672" y="2438400"/>
            <a:ext cx="21907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2981" y="2828925"/>
            <a:ext cx="14287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7628" y="2133600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54803" y="234315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533900"/>
            <a:ext cx="5334000" cy="2381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5543550"/>
            <a:ext cx="13335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5886450"/>
            <a:ext cx="1143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6229350"/>
            <a:ext cx="17145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0" y="4533900"/>
            <a:ext cx="5334000" cy="238125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609600"/>
            <a:ext cx="142646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Умное пространство </a:t>
            </a:r>
            <a:r>
              <a:rPr lang="en-US" sz="36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кампуса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1287542" y="3048000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IP-КАМЕРЫ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990600" y="3390900"/>
            <a:ext cx="244554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визуальных данных в режиме реального времени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3875961" y="3048000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НЕЙРОСЕТЬ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3579019" y="3390900"/>
            <a:ext cx="244554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занятости мест без распознавания лиц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6772915" y="3143250"/>
            <a:ext cx="1234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4989909" y="3486150"/>
            <a:ext cx="4800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Веб-интерфейс или Telegram-бот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9464278" y="3048000"/>
            <a:ext cx="102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БРОНЬ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8755856" y="3390900"/>
            <a:ext cx="244554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Мгновенное резервирование аудитории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914400" y="4838700"/>
            <a:ext cx="472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ТЕХНОЛОГИЧЕСКИЙ СТЕК</a:t>
            </a:r>
            <a:endParaRPr lang="en-US" sz="900" dirty="0"/>
          </a:p>
        </p:txBody>
      </p:sp>
      <p:sp>
        <p:nvSpPr>
          <p:cNvPr id="32" name="Text 10"/>
          <p:cNvSpPr/>
          <p:nvPr/>
        </p:nvSpPr>
        <p:spPr>
          <a:xfrm>
            <a:off x="914400" y="5067300"/>
            <a:ext cx="57607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&amp; IoT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1162050" y="55245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Приватность: данные не содержат лиц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143000" y="58674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Онлайн-мониторинг 24/7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1200150" y="621030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Telegram-бот для быстрого поиска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553200" y="4838700"/>
            <a:ext cx="472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ЭФФЕКТИВНОСТЬ</a:t>
            </a:r>
            <a:endParaRPr lang="en-US" sz="900" dirty="0"/>
          </a:p>
        </p:txBody>
      </p:sp>
      <p:sp>
        <p:nvSpPr>
          <p:cNvPr id="37" name="Text 15"/>
          <p:cNvSpPr/>
          <p:nvPr/>
        </p:nvSpPr>
        <p:spPr>
          <a:xfrm>
            <a:off x="6553200" y="5067300"/>
            <a:ext cx="472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фонда</a:t>
            </a:r>
            <a:endParaRPr lang="en-US" sz="1800" dirty="0"/>
          </a:p>
        </p:txBody>
      </p:sp>
      <p:sp>
        <p:nvSpPr>
          <p:cNvPr id="38" name="Text 16"/>
          <p:cNvSpPr/>
          <p:nvPr/>
        </p:nvSpPr>
        <p:spPr>
          <a:xfrm>
            <a:off x="6553200" y="5524500"/>
            <a:ext cx="47244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выявляет незанятые помещения по расписанию и предоставляет студентам информацию о свободных пространствах, решая проблему дефицита в пиковые часы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6762750" y="6419850"/>
            <a:ext cx="4724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8288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3454301" cy="388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88" y="213360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781300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671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1529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387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701" y="1752600"/>
            <a:ext cx="3454450" cy="388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3501" y="20574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9226" y="21336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278130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346710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41529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48387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752600"/>
            <a:ext cx="3454301" cy="388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750" y="20574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7050" y="21336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278130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3467100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4152900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4838700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6096000"/>
            <a:ext cx="10972800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19238" y="6324600"/>
            <a:ext cx="2286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70078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преимущества платформы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1524000" y="2133600"/>
            <a:ext cx="2468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Студентам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200150" y="27432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Персональный путь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обучения и темп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1200150" y="34290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Мгновенная связь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разбор ошибок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1200150" y="41148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вовлеченности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через дебаты с AI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1200150" y="48006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Экономия времени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поиск аудиторий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5283101" y="21336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Преподавателям</a:t>
            </a:r>
            <a:endParaRPr lang="en-US" sz="1800" dirty="0"/>
          </a:p>
        </p:txBody>
      </p:sp>
      <p:sp>
        <p:nvSpPr>
          <p:cNvPr id="33" name="Text 7"/>
          <p:cNvSpPr/>
          <p:nvPr/>
        </p:nvSpPr>
        <p:spPr>
          <a:xfrm>
            <a:off x="4959251" y="27432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тестов и проверки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4959251" y="34290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Глубокая аналитика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 всей группе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4959251" y="41148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на наставничестве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а не на рутине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4959251" y="48006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Выявление </a:t>
            </a: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системных пробелов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знаний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9042350" y="2133600"/>
            <a:ext cx="109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ВУЗу</a:t>
            </a:r>
            <a:endParaRPr lang="en-US" sz="1800" dirty="0"/>
          </a:p>
        </p:txBody>
      </p:sp>
      <p:sp>
        <p:nvSpPr>
          <p:cNvPr id="38" name="Text 12"/>
          <p:cNvSpPr/>
          <p:nvPr/>
        </p:nvSpPr>
        <p:spPr>
          <a:xfrm>
            <a:off x="8718500" y="27432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аудиторного фонда</a:t>
            </a:r>
            <a:endParaRPr lang="en-US" sz="1350" dirty="0"/>
          </a:p>
        </p:txBody>
      </p:sp>
      <p:sp>
        <p:nvSpPr>
          <p:cNvPr id="39" name="Text 13"/>
          <p:cNvSpPr/>
          <p:nvPr/>
        </p:nvSpPr>
        <p:spPr>
          <a:xfrm>
            <a:off x="8718500" y="34290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Современный имидж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AI-среда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8718500" y="41148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успеваемости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качества дипломов</a:t>
            </a:r>
            <a:endParaRPr lang="en-US" sz="1350" dirty="0"/>
          </a:p>
        </p:txBody>
      </p:sp>
      <p:sp>
        <p:nvSpPr>
          <p:cNvPr id="41" name="Text 15"/>
          <p:cNvSpPr/>
          <p:nvPr/>
        </p:nvSpPr>
        <p:spPr>
          <a:xfrm>
            <a:off x="8718500" y="48006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решения в управлении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1976438" y="6343650"/>
            <a:ext cx="1874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единой интеллектуальной экосистемы для эффективного обучения и управления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8288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3454301" cy="552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21336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743200"/>
            <a:ext cx="2844701" cy="1638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3276600"/>
            <a:ext cx="1333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3810000"/>
            <a:ext cx="13335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610100"/>
            <a:ext cx="2844701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5143500"/>
            <a:ext cx="13335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5448300"/>
            <a:ext cx="1333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8701" y="1752600"/>
            <a:ext cx="3454450" cy="5524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3501" y="2133600"/>
            <a:ext cx="453479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7291" y="220980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3501" y="29337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3501" y="3619500"/>
            <a:ext cx="219075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73501" y="4305300"/>
            <a:ext cx="15240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73501" y="4991100"/>
            <a:ext cx="219075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3501" y="5410200"/>
            <a:ext cx="13335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27950" y="1752600"/>
            <a:ext cx="3454301" cy="5524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750" y="2133600"/>
            <a:ext cx="355997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96449" y="22098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32750" y="2933700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32750" y="3886200"/>
            <a:ext cx="171450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2750" y="4838700"/>
            <a:ext cx="190500" cy="1714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32750" y="5524500"/>
            <a:ext cx="171450" cy="1714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32750" y="6477000"/>
            <a:ext cx="171450" cy="1714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7734300"/>
            <a:ext cx="10972800" cy="990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8200" y="8077200"/>
            <a:ext cx="285750" cy="304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609600"/>
            <a:ext cx="186537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Бизнес-модель и стратегия развития</a:t>
            </a:r>
            <a:endParaRPr lang="en-US" sz="3600" dirty="0"/>
          </a:p>
        </p:txBody>
      </p:sp>
      <p:sp>
        <p:nvSpPr>
          <p:cNvPr id="31" name="Text 1"/>
          <p:cNvSpPr/>
          <p:nvPr/>
        </p:nvSpPr>
        <p:spPr>
          <a:xfrm>
            <a:off x="1524000" y="2133600"/>
            <a:ext cx="30175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Монетизация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1066800" y="2895600"/>
            <a:ext cx="2539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(ВУЗы)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1276350" y="3238500"/>
            <a:ext cx="23303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лицензии по количеству студентов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276350" y="3771900"/>
            <a:ext cx="23303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существующими LMS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1066800" y="4762500"/>
            <a:ext cx="3017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B2C (Студенты)</a:t>
            </a:r>
            <a:endParaRPr lang="en-US" sz="1350" dirty="0"/>
          </a:p>
        </p:txBody>
      </p:sp>
      <p:sp>
        <p:nvSpPr>
          <p:cNvPr id="36" name="Text 6"/>
          <p:cNvSpPr/>
          <p:nvPr/>
        </p:nvSpPr>
        <p:spPr>
          <a:xfrm>
            <a:off x="1276350" y="5105400"/>
            <a:ext cx="3108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AI-тьютор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276350" y="5410200"/>
            <a:ext cx="23303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Расширенная персональная аналитика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5279380" y="2057400"/>
            <a:ext cx="223897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</a:t>
            </a:r>
            <a:endParaRPr lang="en-US" sz="1800" dirty="0"/>
          </a:p>
        </p:txBody>
      </p:sp>
      <p:sp>
        <p:nvSpPr>
          <p:cNvPr id="39" name="Text 9"/>
          <p:cNvSpPr/>
          <p:nvPr/>
        </p:nvSpPr>
        <p:spPr>
          <a:xfrm>
            <a:off x="4959251" y="28956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Государственные и частные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университеты</a:t>
            </a:r>
            <a:endParaRPr lang="en-US" sz="1350" dirty="0"/>
          </a:p>
        </p:txBody>
      </p:sp>
      <p:sp>
        <p:nvSpPr>
          <p:cNvPr id="40" name="Text 10"/>
          <p:cNvSpPr/>
          <p:nvPr/>
        </p:nvSpPr>
        <p:spPr>
          <a:xfrm>
            <a:off x="5006876" y="3581400"/>
            <a:ext cx="25114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Образовательные центры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колледжи</a:t>
            </a:r>
            <a:endParaRPr lang="en-US" sz="1350" dirty="0"/>
          </a:p>
        </p:txBody>
      </p:sp>
      <p:sp>
        <p:nvSpPr>
          <p:cNvPr id="41" name="Text 11"/>
          <p:cNvSpPr/>
          <p:nvPr/>
        </p:nvSpPr>
        <p:spPr>
          <a:xfrm>
            <a:off x="4940201" y="4267200"/>
            <a:ext cx="2578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Студенты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стремящиеся к саморазвитию</a:t>
            </a:r>
            <a:endParaRPr lang="en-US" sz="1350" dirty="0"/>
          </a:p>
        </p:txBody>
      </p:sp>
      <p:sp>
        <p:nvSpPr>
          <p:cNvPr id="42" name="Text 12"/>
          <p:cNvSpPr/>
          <p:nvPr/>
        </p:nvSpPr>
        <p:spPr>
          <a:xfrm>
            <a:off x="5006876" y="49530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Преподаватели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методисты</a:t>
            </a:r>
            <a:endParaRPr lang="en-US" sz="1350" dirty="0"/>
          </a:p>
        </p:txBody>
      </p:sp>
      <p:sp>
        <p:nvSpPr>
          <p:cNvPr id="43" name="Text 13"/>
          <p:cNvSpPr/>
          <p:nvPr/>
        </p:nvSpPr>
        <p:spPr>
          <a:xfrm>
            <a:off x="4921151" y="5372100"/>
            <a:ext cx="2597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Корпоративные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университеты</a:t>
            </a:r>
            <a:endParaRPr lang="en-US" sz="1350" dirty="0"/>
          </a:p>
        </p:txBody>
      </p:sp>
      <p:sp>
        <p:nvSpPr>
          <p:cNvPr id="44" name="Text 14"/>
          <p:cNvSpPr/>
          <p:nvPr/>
        </p:nvSpPr>
        <p:spPr>
          <a:xfrm>
            <a:off x="8941147" y="2057400"/>
            <a:ext cx="233630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преимущества</a:t>
            </a:r>
            <a:endParaRPr lang="en-US" sz="1800" dirty="0"/>
          </a:p>
        </p:txBody>
      </p:sp>
      <p:sp>
        <p:nvSpPr>
          <p:cNvPr id="45" name="Text 15"/>
          <p:cNvSpPr/>
          <p:nvPr/>
        </p:nvSpPr>
        <p:spPr>
          <a:xfrm>
            <a:off x="8718500" y="2895600"/>
            <a:ext cx="2558951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Масштабируемость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решения для любого размера ВУЗа</a:t>
            </a:r>
            <a:endParaRPr lang="en-US" sz="1350" dirty="0"/>
          </a:p>
        </p:txBody>
      </p:sp>
      <p:sp>
        <p:nvSpPr>
          <p:cNvPr id="46" name="Text 16"/>
          <p:cNvSpPr/>
          <p:nvPr/>
        </p:nvSpPr>
        <p:spPr>
          <a:xfrm>
            <a:off x="8718500" y="3848100"/>
            <a:ext cx="2558951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Высокий ROI: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сокращение затрат на администрирование до 40%</a:t>
            </a:r>
            <a:endParaRPr lang="en-US" sz="1350" dirty="0"/>
          </a:p>
        </p:txBody>
      </p:sp>
      <p:sp>
        <p:nvSpPr>
          <p:cNvPr id="47" name="Text 17"/>
          <p:cNvSpPr/>
          <p:nvPr/>
        </p:nvSpPr>
        <p:spPr>
          <a:xfrm>
            <a:off x="8737550" y="4800600"/>
            <a:ext cx="25399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Повышение успеваемости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студентов на 15-20%</a:t>
            </a:r>
            <a:endParaRPr lang="en-US" sz="1350" dirty="0"/>
          </a:p>
        </p:txBody>
      </p:sp>
      <p:sp>
        <p:nvSpPr>
          <p:cNvPr id="48" name="Text 18"/>
          <p:cNvSpPr/>
          <p:nvPr/>
        </p:nvSpPr>
        <p:spPr>
          <a:xfrm>
            <a:off x="8718500" y="5486400"/>
            <a:ext cx="2558951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Экосистемный подход: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единая платформа для всех процессов</a:t>
            </a:r>
            <a:endParaRPr lang="en-US" sz="1350" dirty="0"/>
          </a:p>
        </p:txBody>
      </p:sp>
      <p:sp>
        <p:nvSpPr>
          <p:cNvPr id="49" name="Text 19"/>
          <p:cNvSpPr/>
          <p:nvPr/>
        </p:nvSpPr>
        <p:spPr>
          <a:xfrm>
            <a:off x="8718500" y="64389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Быстрое внедрение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интеграция</a:t>
            </a:r>
            <a:endParaRPr lang="en-US" sz="1350" dirty="0"/>
          </a:p>
        </p:txBody>
      </p:sp>
      <p:sp>
        <p:nvSpPr>
          <p:cNvPr id="50" name="Text 20"/>
          <p:cNvSpPr/>
          <p:nvPr/>
        </p:nvSpPr>
        <p:spPr>
          <a:xfrm>
            <a:off x="1352550" y="7962900"/>
            <a:ext cx="10001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616</Words>
  <Application>Microsoft Office PowerPoint</Application>
  <PresentationFormat>Widescreen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Блескович Харизмович</cp:lastModifiedBy>
  <cp:revision>3</cp:revision>
  <dcterms:created xsi:type="dcterms:W3CDTF">2026-02-25T14:14:16Z</dcterms:created>
  <dcterms:modified xsi:type="dcterms:W3CDTF">2026-04-20T07:13:20Z</dcterms:modified>
</cp:coreProperties>
</file>